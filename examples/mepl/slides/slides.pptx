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2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../../../help/mepml.html" TargetMode="Externa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011680"/>
            <a:ext cx="11186160" cy="1097280"/>
          </a:xfrm>
          <a:prstGeom prst="rect">
            <a:avLst/>
          </a:prstGeom>
          <a:noFill/>
        </p:spPr>
        <p:txBody>
          <a:bodyPr wrap="square" lIns="91440" tIns="45720" rIns="91440" bIns="45720" anchor="b">
            <a:normAutofit/>
          </a:bodyPr>
          <a:lstStyle/>
          <a:p>
            <a:pPr algn="ctr">
              <a:buNone/>
            </a:pPr>
            <a:r>
              <a:rPr lang="en-US" sz="4000" b="1">
                <a:latin typeface="+mn-lt"/>
                <a:cs typeface="+mn-cs"/>
              </a:rPr>
              <a:t>Slides in mepml</a:t>
            </a:r>
            <a:endParaRPr lang="en-US" sz="4000"/>
          </a:p>
        </p:txBody>
      </p:sp>
      <p:sp>
        <p:nvSpPr>
          <p:cNvPr id="3" name="Text 3"/>
          <p:cNvSpPr txBox="1"/>
          <p:nvPr/>
        </p:nvSpPr>
        <p:spPr>
          <a:xfrm>
            <a:off x="502920" y="3108960"/>
            <a:ext cx="11186160" cy="7315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ctr">
              <a:spcBef>
                <a:spcPts val="840"/>
              </a:spcBef>
              <a:buNone/>
            </a:pPr>
            <a:r>
              <a:rPr lang="en-US" sz="2400">
                <a:solidFill>
                  <a:srgbClr val="59636E"/>
                </a:solidFill>
                <a:latin typeface="+mn-lt"/>
                <a:cs typeface="+mn-cs"/>
              </a:rPr>
              <a:t>A small deck that shows what a slide can hold</a:t>
            </a:r>
            <a:endParaRPr lang="en-US" sz="2400"/>
          </a:p>
        </p:txBody>
      </p:sp>
      <p:sp>
        <p:nvSpPr>
          <p:cNvPr id="4" name="Text 4"/>
          <p:cNvSpPr txBox="1"/>
          <p:nvPr/>
        </p:nvSpPr>
        <p:spPr>
          <a:xfrm>
            <a:off x="502920" y="4069080"/>
            <a:ext cx="11186160" cy="457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ctr">
              <a:spcBef>
                <a:spcPts val="700"/>
              </a:spcBef>
              <a:buNone/>
            </a:pPr>
            <a:r>
              <a:rPr lang="en-US" sz="2000">
                <a:solidFill>
                  <a:srgbClr val="59636E"/>
                </a:solidFill>
                <a:latin typeface="+mn-lt"/>
                <a:cs typeface="+mn-cs"/>
              </a:rPr>
              <a:t>Jordan Schupbach</a:t>
            </a:r>
            <a:endParaRPr 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86160" cy="868680"/>
          </a:xfrm>
          <a:prstGeom prst="rect">
            <a:avLst/>
          </a:prstGeom>
          <a:noFill/>
        </p:spPr>
        <p:txBody>
          <a:bodyPr wrap="square" lIns="91440" tIns="45720" rIns="91440" bIns="45720" anchor="b">
            <a:normAutofit/>
          </a:bodyPr>
          <a:lstStyle/>
          <a:p>
            <a:pPr>
              <a:buNone/>
            </a:pPr>
            <a:r>
              <a:rPr lang="en-US" sz="3200" b="1">
                <a:latin typeface="+mn-lt"/>
                <a:cs typeface="+mn-cs"/>
              </a:rPr>
              <a:t>Slides in mepml</a:t>
            </a:r>
            <a:endParaRPr lang="en-US" sz="3200"/>
          </a:p>
        </p:txBody>
      </p:sp>
      <p:sp>
        <p:nvSpPr>
          <p:cNvPr id="3" name="Text 3"/>
          <p:cNvSpPr txBox="1"/>
          <p:nvPr/>
        </p:nvSpPr>
        <p:spPr>
          <a:xfrm>
            <a:off x="502920" y="1234440"/>
            <a:ext cx="11186160" cy="1656079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>
              <a:spcBef>
                <a:spcPts val="770"/>
              </a:spcBef>
              <a:buNone/>
            </a:pPr>
            <a:r>
              <a:rPr lang="en-US" sz="2200">
                <a:latin typeface="+mn-lt"/>
                <a:cs typeface="+mn-cs"/>
              </a:rPr>
              <a:t>Any mepml can go on a slide. The slide's first heading is its title.</a:t>
            </a:r>
            <a:endParaRPr lang="en-US" sz="2200"/>
          </a:p>
          <a:p>
            <a:pPr marL="274320" indent="-274320">
              <a:spcBef>
                <a:spcPts val="330"/>
              </a:spcBef>
              <a:buFont typeface="Arial"/>
              <a:buChar char="•"/>
            </a:pPr>
            <a:r>
              <a:rPr lang="en-US" sz="2200">
                <a:latin typeface="+mn-lt"/>
                <a:cs typeface="+mn-cs"/>
              </a:rPr>
              <a:t>Open with </a:t>
            </a:r>
            <a:r>
              <a:rPr lang="en-US" sz="2200">
                <a:latin typeface="Consolas"/>
                <a:cs typeface="Consolas"/>
              </a:rPr>
              <a:t>\slide(</a:t>
            </a:r>
            <a:r>
              <a:rPr lang="en-US" sz="2200">
                <a:latin typeface="+mn-lt"/>
                <a:cs typeface="+mn-cs"/>
              </a:rPr>
              <a:t> on a line of its own</a:t>
            </a:r>
            <a:endParaRPr lang="en-US" sz="2200"/>
          </a:p>
          <a:p>
            <a:pPr marL="274320" indent="-274320">
              <a:spcBef>
                <a:spcPts val="330"/>
              </a:spcBef>
              <a:buFont typeface="Arial"/>
              <a:buChar char="•"/>
            </a:pPr>
            <a:r>
              <a:rPr lang="en-US" sz="2200">
                <a:latin typeface="+mn-lt"/>
                <a:cs typeface="+mn-cs"/>
              </a:rPr>
              <a:t>Close with </a:t>
            </a:r>
            <a:r>
              <a:rPr lang="en-US" sz="2200">
                <a:latin typeface="Consolas"/>
                <a:cs typeface="Consolas"/>
              </a:rPr>
              <a:t>)</a:t>
            </a:r>
            <a:r>
              <a:rPr lang="en-US" sz="2200">
                <a:latin typeface="+mn-lt"/>
                <a:cs typeface="+mn-cs"/>
              </a:rPr>
              <a:t> on a line of its own</a:t>
            </a:r>
            <a:endParaRPr lang="en-US" sz="2200"/>
          </a:p>
          <a:p>
            <a:pPr marL="274320" indent="-274320">
              <a:spcBef>
                <a:spcPts val="330"/>
              </a:spcBef>
              <a:buFont typeface="Arial"/>
              <a:buChar char="•"/>
            </a:pPr>
            <a:r>
              <a:rPr lang="en-US" sz="2200">
                <a:latin typeface="+mn-lt"/>
                <a:cs typeface="+mn-cs"/>
              </a:rPr>
              <a:t>Everything in between is ordinary mepml</a:t>
            </a:r>
            <a:endParaRPr lang="en-US"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86160" cy="868680"/>
          </a:xfrm>
          <a:prstGeom prst="rect">
            <a:avLst/>
          </a:prstGeom>
          <a:noFill/>
        </p:spPr>
        <p:txBody>
          <a:bodyPr wrap="square" lIns="91440" tIns="45720" rIns="91440" bIns="45720" anchor="b">
            <a:normAutofit/>
          </a:bodyPr>
          <a:lstStyle/>
          <a:p>
            <a:pPr>
              <a:buNone/>
            </a:pPr>
            <a:r>
              <a:rPr lang="en-US" sz="3200" b="1">
                <a:latin typeface="+mn-lt"/>
                <a:cs typeface="+mn-cs"/>
              </a:rPr>
              <a:t>Inline formatting</a:t>
            </a:r>
            <a:endParaRPr lang="en-US" sz="3200"/>
          </a:p>
        </p:txBody>
      </p:sp>
      <p:sp>
        <p:nvSpPr>
          <p:cNvPr id="3" name="Text 3"/>
          <p:cNvSpPr txBox="1"/>
          <p:nvPr/>
        </p:nvSpPr>
        <p:spPr>
          <a:xfrm>
            <a:off x="502920" y="1234440"/>
            <a:ext cx="11186160" cy="1600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74320" indent="-274320">
              <a:spcBef>
                <a:spcPts val="330"/>
              </a:spcBef>
              <a:buFont typeface="Arial"/>
              <a:buChar char="•"/>
            </a:pPr>
            <a:r>
              <a:rPr lang="en-US" sz="2200" b="1">
                <a:latin typeface="+mn-lt"/>
                <a:cs typeface="+mn-cs"/>
              </a:rPr>
              <a:t>Bold</a:t>
            </a:r>
            <a:r>
              <a:rPr lang="en-US" sz="2200">
                <a:latin typeface="+mn-lt"/>
                <a:cs typeface="+mn-cs"/>
              </a:rPr>
              <a:t>, </a:t>
            </a:r>
            <a:r>
              <a:rPr lang="en-US" sz="2200" i="1">
                <a:latin typeface="+mn-lt"/>
                <a:cs typeface="+mn-cs"/>
              </a:rPr>
              <a:t>italic</a:t>
            </a:r>
            <a:r>
              <a:rPr lang="en-US" sz="2200">
                <a:latin typeface="+mn-lt"/>
                <a:cs typeface="+mn-cs"/>
              </a:rPr>
              <a:t>, </a:t>
            </a:r>
            <a:r>
              <a:rPr lang="en-US" sz="2200" u="sng">
                <a:latin typeface="+mn-lt"/>
                <a:cs typeface="+mn-cs"/>
              </a:rPr>
              <a:t>underlined</a:t>
            </a:r>
            <a:r>
              <a:rPr lang="en-US" sz="2200">
                <a:latin typeface="+mn-lt"/>
                <a:cs typeface="+mn-cs"/>
              </a:rPr>
              <a:t> and </a:t>
            </a:r>
            <a:r>
              <a:rPr lang="en-US" sz="2200" b="1">
                <a:solidFill>
                  <a:srgbClr val="9A6700"/>
                </a:solidFill>
                <a:latin typeface="+mn-lt"/>
                <a:cs typeface="+mn-cs"/>
              </a:rPr>
              <a:t>highlighted</a:t>
            </a:r>
            <a:r>
              <a:rPr lang="en-US" sz="2200">
                <a:latin typeface="+mn-lt"/>
                <a:cs typeface="+mn-cs"/>
              </a:rPr>
              <a:t> text</a:t>
            </a:r>
            <a:endParaRPr lang="en-US" sz="2200"/>
          </a:p>
          <a:p>
            <a:pPr marL="274320" indent="-274320">
              <a:spcBef>
                <a:spcPts val="330"/>
              </a:spcBef>
              <a:buFont typeface="Arial"/>
              <a:buChar char="•"/>
            </a:pPr>
            <a:r>
              <a:rPr lang="en-US" sz="2200">
                <a:latin typeface="Consolas"/>
                <a:cs typeface="Consolas"/>
              </a:rPr>
              <a:t>Monospaced</a:t>
            </a:r>
            <a:r>
              <a:rPr lang="en-US" sz="2200">
                <a:latin typeface="+mn-lt"/>
                <a:cs typeface="+mn-cs"/>
              </a:rPr>
              <a:t>, </a:t>
            </a:r>
            <a:r>
              <a:rPr lang="en-US" sz="2200">
                <a:latin typeface="Consolas"/>
                <a:cs typeface="Consolas"/>
              </a:rPr>
              <a:t>verbatim</a:t>
            </a:r>
            <a:r>
              <a:rPr lang="en-US" sz="2200">
                <a:latin typeface="+mn-lt"/>
                <a:cs typeface="+mn-cs"/>
              </a:rPr>
              <a:t>, </a:t>
            </a:r>
            <a:r>
              <a:rPr lang="en-US" sz="2200" baseline="30000">
                <a:latin typeface="+mn-lt"/>
                <a:cs typeface="+mn-cs"/>
              </a:rPr>
              <a:t>super</a:t>
            </a:r>
            <a:r>
              <a:rPr lang="en-US" sz="2200">
                <a:latin typeface="+mn-lt"/>
                <a:cs typeface="+mn-cs"/>
              </a:rPr>
              <a:t>script and </a:t>
            </a:r>
            <a:r>
              <a:rPr lang="en-US" sz="2200" baseline="-25000">
                <a:latin typeface="+mn-lt"/>
                <a:cs typeface="+mn-cs"/>
              </a:rPr>
              <a:t>sub</a:t>
            </a:r>
            <a:r>
              <a:rPr lang="en-US" sz="2200">
                <a:latin typeface="+mn-lt"/>
                <a:cs typeface="+mn-cs"/>
              </a:rPr>
              <a:t>script</a:t>
            </a:r>
            <a:endParaRPr lang="en-US" sz="2200"/>
          </a:p>
          <a:p>
            <a:pPr marL="274320" indent="-274320">
              <a:spcBef>
                <a:spcPts val="330"/>
              </a:spcBef>
              <a:buFont typeface="Arial"/>
              <a:buChar char="•"/>
            </a:pPr>
            <a:r>
              <a:rPr lang="en-US" sz="2200">
                <a:solidFill>
                  <a:srgbClr val="2AA198"/>
                </a:solidFill>
                <a:latin typeface="+mn-lt"/>
                <a:cs typeface="+mn-cs"/>
              </a:rPr>
              <a:t>Coloured text</a:t>
            </a:r>
            <a:r>
              <a:rPr lang="en-US" sz="2200">
                <a:latin typeface="+mn-lt"/>
                <a:cs typeface="+mn-cs"/>
              </a:rPr>
              <a:t> and </a:t>
            </a:r>
            <a:r>
              <a:rPr lang="en-US" sz="2200">
                <a:latin typeface="+mn-lt"/>
                <a:cs typeface="+mn-cs"/>
              </a:rPr>
              <a:t>larger text</a:t>
            </a:r>
            <a:endParaRPr lang="en-US" sz="2200"/>
          </a:p>
          <a:p>
            <a:pPr marL="274320" indent="-274320">
              <a:spcBef>
                <a:spcPts val="330"/>
              </a:spcBef>
              <a:buFont typeface="Arial"/>
              <a:buChar char="•"/>
            </a:pPr>
            <a:r>
              <a:rPr lang="en-US" sz="2200">
                <a:latin typeface="+mn-lt"/>
                <a:cs typeface="+mn-cs"/>
              </a:rPr>
              <a:t>Links such as </a:t>
            </a:r>
            <a:r>
              <a:rPr lang="en-US" sz="2200" u="sng">
                <a:solidFill>
                  <a:srgbClr val="0B5CAD"/>
                </a:solidFill>
                <a:latin typeface="+mn-lt"/>
                <a:cs typeface="+mn-cs"/>
                <a:hlinkClick r:id="rId2"/>
              </a:rPr>
              <a:t>the mepml help</a:t>
            </a:r>
            <a:endParaRPr lang="en-US"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86160" cy="868680"/>
          </a:xfrm>
          <a:prstGeom prst="rect">
            <a:avLst/>
          </a:prstGeom>
          <a:noFill/>
        </p:spPr>
        <p:txBody>
          <a:bodyPr wrap="square" lIns="91440" tIns="45720" rIns="91440" bIns="45720" anchor="b">
            <a:normAutofit/>
          </a:bodyPr>
          <a:lstStyle/>
          <a:p>
            <a:pPr>
              <a:buNone/>
            </a:pPr>
            <a:r>
              <a:rPr lang="en-US" sz="3200" b="1">
                <a:latin typeface="+mn-lt"/>
                <a:cs typeface="+mn-cs"/>
              </a:rPr>
              <a:t>Lists</a:t>
            </a:r>
            <a:endParaRPr lang="en-US" sz="3200"/>
          </a:p>
        </p:txBody>
      </p:sp>
      <p:sp>
        <p:nvSpPr>
          <p:cNvPr id="3" name="Text 3"/>
          <p:cNvSpPr txBox="1"/>
          <p:nvPr/>
        </p:nvSpPr>
        <p:spPr>
          <a:xfrm>
            <a:off x="502920" y="1234440"/>
            <a:ext cx="11186160" cy="23545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74320" indent="-274320">
              <a:spcBef>
                <a:spcPts val="330"/>
              </a:spcBef>
              <a:buAutoNum type="arabicPeriod" startAt="1"/>
            </a:pPr>
            <a:r>
              <a:rPr lang="en-US" sz="2200">
                <a:latin typeface="+mn-lt"/>
                <a:cs typeface="+mn-cs"/>
              </a:rPr>
              <a:t>Numbered items</a:t>
            </a:r>
            <a:endParaRPr lang="en-US" sz="2200"/>
          </a:p>
          <a:p>
            <a:pPr marL="274320" indent="-274320">
              <a:spcBef>
                <a:spcPts val="330"/>
              </a:spcBef>
              <a:buAutoNum type="arabicPeriod" startAt="2"/>
            </a:pPr>
            <a:r>
              <a:rPr lang="en-US" sz="2200">
                <a:latin typeface="+mn-lt"/>
                <a:cs typeface="+mn-cs"/>
              </a:rPr>
              <a:t>Nest as usual</a:t>
            </a:r>
            <a:endParaRPr lang="en-US" sz="2200"/>
          </a:p>
          <a:p>
            <a:pPr marL="548640" indent="-274320">
              <a:spcBef>
                <a:spcPts val="330"/>
              </a:spcBef>
              <a:buFont typeface="Arial"/>
              <a:buChar char="–"/>
            </a:pPr>
            <a:r>
              <a:rPr lang="en-US" sz="2200">
                <a:latin typeface="+mn-lt"/>
                <a:cs typeface="+mn-cs"/>
              </a:rPr>
              <a:t>with bullets underneath</a:t>
            </a:r>
            <a:endParaRPr lang="en-US" sz="2200"/>
          </a:p>
          <a:p>
            <a:pPr marL="548640" indent="-274320">
              <a:spcBef>
                <a:spcPts val="330"/>
              </a:spcBef>
              <a:buFont typeface="Arial"/>
              <a:buChar char="–"/>
            </a:pPr>
            <a:r>
              <a:rPr lang="en-US" sz="2200">
                <a:latin typeface="+mn-lt"/>
                <a:cs typeface="+mn-cs"/>
              </a:rPr>
              <a:t>as deep as you need</a:t>
            </a:r>
            <a:endParaRPr lang="en-US" sz="2200"/>
          </a:p>
          <a:p>
            <a:pPr marL="274320" indent="-274320">
              <a:spcBef>
                <a:spcPts val="330"/>
              </a:spcBef>
              <a:buFont typeface="Arial"/>
              <a:buChar char="•"/>
            </a:pPr>
            <a:r>
              <a:rPr lang="en-US" sz="2200">
                <a:latin typeface="+mn-lt"/>
                <a:cs typeface="+mn-cs"/>
              </a:rPr>
              <a:t>☑ </a:t>
            </a:r>
            <a:r>
              <a:rPr lang="en-US" sz="2200">
                <a:latin typeface="+mn-lt"/>
                <a:cs typeface="+mn-cs"/>
              </a:rPr>
              <a:t>Task lists work</a:t>
            </a:r>
            <a:endParaRPr lang="en-US" sz="2200"/>
          </a:p>
          <a:p>
            <a:pPr marL="274320" indent="-274320">
              <a:spcBef>
                <a:spcPts val="330"/>
              </a:spcBef>
              <a:buFont typeface="Arial"/>
              <a:buChar char="•"/>
            </a:pPr>
            <a:r>
              <a:rPr lang="en-US" sz="2200">
                <a:latin typeface="+mn-lt"/>
                <a:cs typeface="+mn-cs"/>
              </a:rPr>
              <a:t>☐ </a:t>
            </a:r>
            <a:r>
              <a:rPr lang="en-US" sz="2200">
                <a:latin typeface="+mn-lt"/>
                <a:cs typeface="+mn-cs"/>
              </a:rPr>
              <a:t>and so do open tasks</a:t>
            </a:r>
            <a:endParaRPr lang="en-US"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86160" cy="868680"/>
          </a:xfrm>
          <a:prstGeom prst="rect">
            <a:avLst/>
          </a:prstGeom>
          <a:noFill/>
        </p:spPr>
        <p:txBody>
          <a:bodyPr wrap="square" lIns="91440" tIns="45720" rIns="91440" bIns="45720" anchor="b">
            <a:normAutofit/>
          </a:bodyPr>
          <a:lstStyle/>
          <a:p>
            <a:pPr>
              <a:buNone/>
            </a:pPr>
            <a:r>
              <a:rPr lang="en-US" sz="3200" b="1">
                <a:latin typeface="+mn-lt"/>
                <a:cs typeface="+mn-cs"/>
              </a:rPr>
              <a:t>Maths</a:t>
            </a:r>
            <a:endParaRPr lang="en-US" sz="3200"/>
          </a:p>
        </p:txBody>
      </p:sp>
      <p:sp>
        <p:nvSpPr>
          <p:cNvPr id="3" name="Text 3"/>
          <p:cNvSpPr txBox="1"/>
          <p:nvPr/>
        </p:nvSpPr>
        <p:spPr>
          <a:xfrm>
            <a:off x="502920" y="1234440"/>
            <a:ext cx="11186160" cy="20015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>
              <a:spcBef>
                <a:spcPts val="770"/>
              </a:spcBef>
              <a:buNone/>
            </a:pPr>
            <a:r>
              <a:rPr lang="en-US" sz="2200">
                <a:latin typeface="+mn-lt"/>
                <a:cs typeface="+mn-cs"/>
              </a:rPr>
              <a:t>The linear discriminant maximises the ratio of between-group to within-group scatter:</a:t>
            </a:r>
            <a:endParaRPr lang="en-US" sz="2200"/>
          </a:p>
          <a:p>
            <a:pPr algn="ctr">
              <a:spcBef>
                <a:spcPts val="770"/>
              </a:spcBef>
              <a:buNone/>
            </a:pPr>
            <a:r>
              <a:rPr lang="en-US" sz="2200" i="1">
                <a:latin typeface="+mn-lt"/>
                <a:cs typeface="+mn-cs"/>
              </a:rPr>
              <a:t>J(w) = \frac{w^\top S_B\, w}{w^\top S_W\, w}</a:t>
            </a:r>
            <a:endParaRPr lang="en-US" sz="2200"/>
          </a:p>
          <a:p>
            <a:pPr algn="ctr">
              <a:spcBef>
                <a:spcPts val="490"/>
              </a:spcBef>
              <a:buNone/>
            </a:pPr>
            <a:r>
              <a:rPr lang="en-US" sz="1400" i="1">
                <a:solidFill>
                  <a:srgbClr val="59636E"/>
                </a:solidFill>
                <a:latin typeface="+mn-lt"/>
                <a:cs typeface="+mn-cs"/>
              </a:rPr>
              <a:t>Fisher's criterion</a:t>
            </a:r>
            <a:endParaRPr lang="en-US" sz="1400"/>
          </a:p>
          <a:p>
            <a:pPr>
              <a:spcBef>
                <a:spcPts val="770"/>
              </a:spcBef>
              <a:buNone/>
            </a:pPr>
            <a:r>
              <a:rPr lang="en-US" sz="2200">
                <a:latin typeface="+mn-lt"/>
                <a:cs typeface="+mn-cs"/>
              </a:rPr>
              <a:t>Inline maths works too: </a:t>
            </a:r>
            <a:r>
              <a:rPr lang="en-US" sz="2200" i="1">
                <a:latin typeface="+mn-lt"/>
                <a:cs typeface="+mn-cs"/>
              </a:rPr>
              <a:t>\Lambda = |W| / |W + B|</a:t>
            </a:r>
            <a:r>
              <a:rPr lang="en-US" sz="2200">
                <a:latin typeface="+mn-lt"/>
                <a:cs typeface="+mn-cs"/>
              </a:rPr>
              <a:t>.</a:t>
            </a:r>
            <a:endParaRPr lang="en-US"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86160" cy="868680"/>
          </a:xfrm>
          <a:prstGeom prst="rect">
            <a:avLst/>
          </a:prstGeom>
          <a:noFill/>
        </p:spPr>
        <p:txBody>
          <a:bodyPr wrap="square" lIns="91440" tIns="45720" rIns="91440" bIns="45720" anchor="b">
            <a:normAutofit/>
          </a:bodyPr>
          <a:lstStyle/>
          <a:p>
            <a:pPr>
              <a:buNone/>
            </a:pPr>
            <a:r>
              <a:rPr lang="en-US" sz="3200" b="1">
                <a:latin typeface="+mn-lt"/>
                <a:cs typeface="+mn-cs"/>
              </a:rPr>
              <a:t>A table</a:t>
            </a:r>
            <a:endParaRPr lang="en-US" sz="3200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4076700" y="1234440"/>
          <a:ext cx="4038600" cy="1341120"/>
        </p:xfrm>
        <a:graphic>
          <a:graphicData uri="http://schemas.openxmlformats.org/drawingml/2006/table">
            <a:tbl>
              <a:tblPr firstRow="1"/>
              <a:tblGrid>
                <a:gridCol w="1244600"/>
                <a:gridCol w="1447800"/>
                <a:gridCol w="1346200"/>
              </a:tblGrid>
              <a:tr h="335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+mn-lt"/>
                          <a:cs typeface="+mn-cs"/>
                        </a:rPr>
                        <a:t>Species</a:t>
                      </a:r>
                      <a:endParaRPr lang="en-US" sz="1600"/>
                    </a:p>
                  </a:txBody>
                  <a:tcPr marL="68580" marR="68580" marT="34290" marB="34290">
                    <a:lnL w="6350">
                      <a:solidFill>
                        <a:srgbClr val="BFC5CC"/>
                      </a:solidFill>
                    </a:lnL>
                    <a:lnR w="6350">
                      <a:solidFill>
                        <a:srgbClr val="BFC5CC"/>
                      </a:solidFill>
                    </a:lnR>
                    <a:lnT w="6350">
                      <a:solidFill>
                        <a:srgbClr val="BFC5CC"/>
                      </a:solidFill>
                    </a:lnT>
                    <a:lnB w="6350">
                      <a:solidFill>
                        <a:srgbClr val="BFC5CC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+mn-lt"/>
                          <a:cs typeface="+mn-cs"/>
                        </a:rPr>
                        <a:t>Petal length</a:t>
                      </a:r>
                      <a:endParaRPr lang="en-US" sz="1600"/>
                    </a:p>
                  </a:txBody>
                  <a:tcPr marL="68580" marR="68580" marT="34290" marB="34290">
                    <a:lnL w="6350">
                      <a:solidFill>
                        <a:srgbClr val="BFC5CC"/>
                      </a:solidFill>
                    </a:lnL>
                    <a:lnR w="6350">
                      <a:solidFill>
                        <a:srgbClr val="BFC5CC"/>
                      </a:solidFill>
                    </a:lnR>
                    <a:lnT w="6350">
                      <a:solidFill>
                        <a:srgbClr val="BFC5CC"/>
                      </a:solidFill>
                    </a:lnT>
                    <a:lnB w="6350">
                      <a:solidFill>
                        <a:srgbClr val="BFC5CC"/>
                      </a:solidFill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+mn-lt"/>
                          <a:cs typeface="+mn-cs"/>
                        </a:rPr>
                        <a:t>Petal width</a:t>
                      </a:r>
                      <a:endParaRPr lang="en-US" sz="1600"/>
                    </a:p>
                  </a:txBody>
                  <a:tcPr marL="68580" marR="68580" marT="34290" marB="34290">
                    <a:lnL w="6350">
                      <a:solidFill>
                        <a:srgbClr val="BFC5CC"/>
                      </a:solidFill>
                    </a:lnL>
                    <a:lnR w="6350">
                      <a:solidFill>
                        <a:srgbClr val="BFC5CC"/>
                      </a:solidFill>
                    </a:lnR>
                    <a:lnT w="6350">
                      <a:solidFill>
                        <a:srgbClr val="BFC5CC"/>
                      </a:solidFill>
                    </a:lnT>
                    <a:lnB w="6350">
                      <a:solidFill>
                        <a:srgbClr val="BFC5CC"/>
                      </a:solidFill>
                    </a:lnB>
                    <a:solidFill>
                      <a:srgbClr val="E8EDF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lt"/>
                          <a:cs typeface="+mn-cs"/>
                        </a:rPr>
                        <a:t>setosa</a:t>
                      </a:r>
                      <a:endParaRPr lang="en-US" sz="1600"/>
                    </a:p>
                  </a:txBody>
                  <a:tcPr marL="68580" marR="68580" marT="34290" marB="34290">
                    <a:lnL w="6350">
                      <a:solidFill>
                        <a:srgbClr val="BFC5CC"/>
                      </a:solidFill>
                    </a:lnL>
                    <a:lnR w="6350">
                      <a:solidFill>
                        <a:srgbClr val="BFC5CC"/>
                      </a:solidFill>
                    </a:lnR>
                    <a:lnT w="6350">
                      <a:solidFill>
                        <a:srgbClr val="BFC5CC"/>
                      </a:solidFill>
                    </a:lnT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lt"/>
                          <a:cs typeface="+mn-cs"/>
                        </a:rPr>
                        <a:t>1.46</a:t>
                      </a:r>
                      <a:endParaRPr lang="en-US" sz="1600"/>
                    </a:p>
                  </a:txBody>
                  <a:tcPr marL="68580" marR="68580" marT="34290" marB="34290">
                    <a:lnL w="6350">
                      <a:solidFill>
                        <a:srgbClr val="BFC5CC"/>
                      </a:solidFill>
                    </a:lnL>
                    <a:lnR w="6350">
                      <a:solidFill>
                        <a:srgbClr val="BFC5CC"/>
                      </a:solidFill>
                    </a:lnR>
                    <a:lnT w="6350">
                      <a:solidFill>
                        <a:srgbClr val="BFC5CC"/>
                      </a:solidFill>
                    </a:lnT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lt"/>
                          <a:cs typeface="+mn-cs"/>
                        </a:rPr>
                        <a:t>0.25</a:t>
                      </a:r>
                      <a:endParaRPr lang="en-US" sz="1600"/>
                    </a:p>
                  </a:txBody>
                  <a:tcPr marL="68580" marR="68580" marT="34290" marB="34290">
                    <a:lnL w="6350">
                      <a:solidFill>
                        <a:srgbClr val="BFC5CC"/>
                      </a:solidFill>
                    </a:lnL>
                    <a:lnR w="6350">
                      <a:solidFill>
                        <a:srgbClr val="BFC5CC"/>
                      </a:solidFill>
                    </a:lnR>
                    <a:lnT w="6350">
                      <a:solidFill>
                        <a:srgbClr val="BFC5CC"/>
                      </a:solidFill>
                    </a:lnT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lt"/>
                          <a:cs typeface="+mn-cs"/>
                        </a:rPr>
                        <a:t>versicolor</a:t>
                      </a:r>
                      <a:endParaRPr lang="en-US" sz="1600"/>
                    </a:p>
                  </a:txBody>
                  <a:tcPr marL="68580" marR="68580" marT="34290" marB="34290">
                    <a:lnL w="6350">
                      <a:solidFill>
                        <a:srgbClr val="BFC5CC"/>
                      </a:solidFill>
                    </a:lnL>
                    <a:lnR w="6350">
                      <a:solidFill>
                        <a:srgbClr val="BFC5CC"/>
                      </a:solidFill>
                    </a:lnR>
                    <a:lnT w="6350">
                      <a:solidFill>
                        <a:srgbClr val="BFC5CC"/>
                      </a:solidFill>
                    </a:lnT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lt"/>
                          <a:cs typeface="+mn-cs"/>
                        </a:rPr>
                        <a:t>4.26</a:t>
                      </a:r>
                      <a:endParaRPr lang="en-US" sz="1600"/>
                    </a:p>
                  </a:txBody>
                  <a:tcPr marL="68580" marR="68580" marT="34290" marB="34290">
                    <a:lnL w="6350">
                      <a:solidFill>
                        <a:srgbClr val="BFC5CC"/>
                      </a:solidFill>
                    </a:lnL>
                    <a:lnR w="6350">
                      <a:solidFill>
                        <a:srgbClr val="BFC5CC"/>
                      </a:solidFill>
                    </a:lnR>
                    <a:lnT w="6350">
                      <a:solidFill>
                        <a:srgbClr val="BFC5CC"/>
                      </a:solidFill>
                    </a:lnT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lt"/>
                          <a:cs typeface="+mn-cs"/>
                        </a:rPr>
                        <a:t>1.33</a:t>
                      </a:r>
                      <a:endParaRPr lang="en-US" sz="1600"/>
                    </a:p>
                  </a:txBody>
                  <a:tcPr marL="68580" marR="68580" marT="34290" marB="34290">
                    <a:lnL w="6350">
                      <a:solidFill>
                        <a:srgbClr val="BFC5CC"/>
                      </a:solidFill>
                    </a:lnL>
                    <a:lnR w="6350">
                      <a:solidFill>
                        <a:srgbClr val="BFC5CC"/>
                      </a:solidFill>
                    </a:lnR>
                    <a:lnT w="6350">
                      <a:solidFill>
                        <a:srgbClr val="BFC5CC"/>
                      </a:solidFill>
                    </a:lnT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lt"/>
                          <a:cs typeface="+mn-cs"/>
                        </a:rPr>
                        <a:t>virginica</a:t>
                      </a:r>
                      <a:endParaRPr lang="en-US" sz="1600"/>
                    </a:p>
                  </a:txBody>
                  <a:tcPr marL="68580" marR="68580" marT="34290" marB="34290">
                    <a:lnL w="6350">
                      <a:solidFill>
                        <a:srgbClr val="BFC5CC"/>
                      </a:solidFill>
                    </a:lnL>
                    <a:lnR w="6350">
                      <a:solidFill>
                        <a:srgbClr val="BFC5CC"/>
                      </a:solidFill>
                    </a:lnR>
                    <a:lnT w="6350">
                      <a:solidFill>
                        <a:srgbClr val="BFC5CC"/>
                      </a:solidFill>
                    </a:lnT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lt"/>
                          <a:cs typeface="+mn-cs"/>
                        </a:rPr>
                        <a:t>5.55</a:t>
                      </a:r>
                      <a:endParaRPr lang="en-US" sz="1600"/>
                    </a:p>
                  </a:txBody>
                  <a:tcPr marL="68580" marR="68580" marT="34290" marB="34290">
                    <a:lnL w="6350">
                      <a:solidFill>
                        <a:srgbClr val="BFC5CC"/>
                      </a:solidFill>
                    </a:lnL>
                    <a:lnR w="6350">
                      <a:solidFill>
                        <a:srgbClr val="BFC5CC"/>
                      </a:solidFill>
                    </a:lnR>
                    <a:lnT w="6350">
                      <a:solidFill>
                        <a:srgbClr val="BFC5CC"/>
                      </a:solidFill>
                    </a:lnT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lt"/>
                          <a:cs typeface="+mn-cs"/>
                        </a:rPr>
                        <a:t>2.03</a:t>
                      </a:r>
                      <a:endParaRPr lang="en-US" sz="1600"/>
                    </a:p>
                  </a:txBody>
                  <a:tcPr marL="68580" marR="68580" marT="34290" marB="34290">
                    <a:lnL w="6350">
                      <a:solidFill>
                        <a:srgbClr val="BFC5CC"/>
                      </a:solidFill>
                    </a:lnL>
                    <a:lnR w="6350">
                      <a:solidFill>
                        <a:srgbClr val="BFC5CC"/>
                      </a:solidFill>
                    </a:lnR>
                    <a:lnT w="6350">
                      <a:solidFill>
                        <a:srgbClr val="BFC5CC"/>
                      </a:solidFill>
                    </a:lnT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 4"/>
          <p:cNvSpPr txBox="1"/>
          <p:nvPr/>
        </p:nvSpPr>
        <p:spPr>
          <a:xfrm>
            <a:off x="502920" y="2575560"/>
            <a:ext cx="11186160" cy="294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ctr">
              <a:spcBef>
                <a:spcPts val="490"/>
              </a:spcBef>
              <a:buNone/>
            </a:pPr>
            <a:r>
              <a:rPr lang="en-US" sz="1400" b="1">
                <a:solidFill>
                  <a:srgbClr val="59636E"/>
                </a:solidFill>
                <a:latin typeface="+mn-lt"/>
                <a:cs typeface="+mn-cs"/>
              </a:rPr>
              <a:t>Table 1: </a:t>
            </a:r>
            <a:r>
              <a:rPr lang="en-US" sz="1400" i="1">
                <a:solidFill>
                  <a:srgbClr val="59636E"/>
                </a:solidFill>
                <a:latin typeface="+mn-lt"/>
                <a:cs typeface="+mn-cs"/>
              </a:rPr>
              <a:t>Mean petal size by species, in cm</a:t>
            </a:r>
            <a:endParaRPr 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86160" cy="868680"/>
          </a:xfrm>
          <a:prstGeom prst="rect">
            <a:avLst/>
          </a:prstGeom>
          <a:noFill/>
        </p:spPr>
        <p:txBody>
          <a:bodyPr wrap="square" lIns="91440" tIns="45720" rIns="91440" bIns="45720" anchor="b">
            <a:normAutofit/>
          </a:bodyPr>
          <a:lstStyle/>
          <a:p>
            <a:pPr>
              <a:buNone/>
            </a:pPr>
            <a:r>
              <a:rPr lang="en-US" sz="3200" b="1">
                <a:latin typeface="+mn-lt"/>
                <a:cs typeface="+mn-cs"/>
              </a:rPr>
              <a:t>A figure</a:t>
            </a:r>
            <a:endParaRPr lang="en-US" sz="3200"/>
          </a:p>
        </p:txBody>
      </p:sp>
      <p:pic>
        <p:nvPicPr>
          <p:cNvPr id="3" name="Picture 3" descr="A scatter-plot matrix of sepal and petal length and width, coloured by speci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284" y="1234440"/>
            <a:ext cx="4853432" cy="4853432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502920" y="6087872"/>
            <a:ext cx="11186160" cy="294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ctr">
              <a:spcBef>
                <a:spcPts val="490"/>
              </a:spcBef>
              <a:buNone/>
            </a:pPr>
            <a:r>
              <a:rPr lang="en-US" sz="1400" b="1">
                <a:solidFill>
                  <a:srgbClr val="59636E"/>
                </a:solidFill>
                <a:latin typeface="+mn-lt"/>
                <a:cs typeface="+mn-cs"/>
              </a:rPr>
              <a:t>Figure 1: </a:t>
            </a:r>
            <a:r>
              <a:rPr lang="en-US" sz="1400" i="1">
                <a:solidFill>
                  <a:srgbClr val="59636E"/>
                </a:solidFill>
                <a:latin typeface="+mn-lt"/>
                <a:cs typeface="+mn-cs"/>
              </a:rPr>
              <a:t>Every pair of the four iris measurements</a:t>
            </a:r>
            <a:endParaRPr 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86160" cy="868680"/>
          </a:xfrm>
          <a:prstGeom prst="rect">
            <a:avLst/>
          </a:prstGeom>
          <a:noFill/>
        </p:spPr>
        <p:txBody>
          <a:bodyPr wrap="square" lIns="91440" tIns="45720" rIns="91440" bIns="45720" anchor="b">
            <a:normAutofit/>
          </a:bodyPr>
          <a:lstStyle/>
          <a:p>
            <a:pPr>
              <a:buNone/>
            </a:pPr>
            <a:r>
              <a:rPr lang="en-US" sz="3200" b="1">
                <a:latin typeface="+mn-lt"/>
                <a:cs typeface="+mn-cs"/>
              </a:rPr>
              <a:t>Code and its results</a:t>
            </a:r>
            <a:endParaRPr lang="en-US" sz="3200"/>
          </a:p>
        </p:txBody>
      </p:sp>
      <p:sp>
        <p:nvSpPr>
          <p:cNvPr id="3" name="Code 3"/>
          <p:cNvSpPr txBox="1"/>
          <p:nvPr/>
        </p:nvSpPr>
        <p:spPr>
          <a:xfrm>
            <a:off x="502920" y="1234440"/>
            <a:ext cx="11186160" cy="1234440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pPr>
              <a:buNone/>
            </a:pPr>
            <a:r>
              <a:rPr lang="en-US" sz="1500">
                <a:latin typeface="Consolas"/>
                <a:cs typeface="Consolas"/>
              </a:rPr>
              <a:t>xs = [1, 2, 3, 4, 5]</a:t>
            </a:r>
            <a:endParaRPr lang="en-US" sz="1500"/>
          </a:p>
          <a:p>
            <a:pPr>
              <a:buNone/>
            </a:pPr>
            <a:r>
              <a:rPr lang="en-US" sz="1500">
                <a:latin typeface="Consolas"/>
                <a:cs typeface="Consolas"/>
              </a:rPr>
              <a:t>print("mean:", sum(xs) / len(xs))</a:t>
            </a:r>
            <a:endParaRPr lang="en-US" sz="1500"/>
          </a:p>
          <a:p>
            <a:pPr>
              <a:buNone/>
            </a:pPr>
            <a:r>
              <a:rPr lang="en-US" sz="1500">
                <a:latin typeface="Consolas"/>
                <a:cs typeface="Consolas"/>
              </a:rPr>
              <a:t>print("squares:", [x * x for x in xs])</a:t>
            </a:r>
            <a:endParaRPr lang="en-US" sz="1500"/>
          </a:p>
          <a:p>
            <a:pPr>
              <a:buNone/>
            </a:pPr>
            <a:r>
              <a:rPr lang="en-US" sz="1500">
                <a:solidFill>
                  <a:srgbClr val="57606A"/>
                </a:solidFill>
                <a:latin typeface="Consolas"/>
                <a:cs typeface="Consolas"/>
              </a:rPr>
              <a:t>mean: 3.0</a:t>
            </a:r>
            <a:endParaRPr lang="en-US" sz="1500"/>
          </a:p>
          <a:p>
            <a:pPr>
              <a:buNone/>
            </a:pPr>
            <a:r>
              <a:rPr lang="en-US" sz="1500">
                <a:solidFill>
                  <a:srgbClr val="57606A"/>
                </a:solidFill>
                <a:latin typeface="Consolas"/>
                <a:cs typeface="Consolas"/>
              </a:rPr>
              <a:t>squares: [1, 4, 9, 16, 25]</a:t>
            </a:r>
            <a:endParaRPr lang="en-US" sz="1500"/>
          </a:p>
        </p:txBody>
      </p:sp>
      <p:sp>
        <p:nvSpPr>
          <p:cNvPr id="4" name="Text 4"/>
          <p:cNvSpPr txBox="1"/>
          <p:nvPr/>
        </p:nvSpPr>
        <p:spPr>
          <a:xfrm>
            <a:off x="502920" y="2578608"/>
            <a:ext cx="11186160" cy="5245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>
              <a:spcBef>
                <a:spcPts val="770"/>
              </a:spcBef>
              <a:buNone/>
            </a:pPr>
            <a:r>
              <a:rPr lang="en-US" sz="2200">
                <a:latin typeface="+mn-lt"/>
                <a:cs typeface="+mn-cs"/>
              </a:rPr>
              <a:t>Run the block with C-c C-c. Its results are written under it, on the slide.</a:t>
            </a:r>
            <a:endParaRPr lang="en-US"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86160" cy="868680"/>
          </a:xfrm>
          <a:prstGeom prst="rect">
            <a:avLst/>
          </a:prstGeom>
          <a:noFill/>
        </p:spPr>
        <p:txBody>
          <a:bodyPr wrap="square" lIns="91440" tIns="45720" rIns="91440" bIns="45720" anchor="b">
            <a:normAutofit/>
          </a:bodyPr>
          <a:lstStyle/>
          <a:p>
            <a:pPr>
              <a:buNone/>
            </a:pPr>
            <a:r>
              <a:rPr lang="en-US" sz="3200" b="1">
                <a:latin typeface="+mn-lt"/>
                <a:cs typeface="+mn-cs"/>
              </a:rPr>
              <a:t>Callouts</a:t>
            </a:r>
            <a:endParaRPr lang="en-US" sz="3200"/>
          </a:p>
        </p:txBody>
      </p:sp>
      <p:sp>
        <p:nvSpPr>
          <p:cNvPr id="3" name="Text 3"/>
          <p:cNvSpPr txBox="1"/>
          <p:nvPr/>
        </p:nvSpPr>
        <p:spPr>
          <a:xfrm>
            <a:off x="502920" y="1234440"/>
            <a:ext cx="11186160" cy="12928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>
              <a:spcBef>
                <a:spcPts val="770"/>
              </a:spcBef>
              <a:buNone/>
            </a:pPr>
            <a:r>
              <a:rPr lang="en-US" sz="2200" b="1">
                <a:latin typeface="+mn-lt"/>
                <a:cs typeface="+mn-cs"/>
              </a:rPr>
              <a:t>NOTE: </a:t>
            </a:r>
            <a:r>
              <a:rPr lang="en-US" sz="2200">
                <a:latin typeface="+mn-lt"/>
                <a:cs typeface="+mn-cs"/>
              </a:rPr>
              <a:t>A callout reads the same on a slide as it does anywhere else.</a:t>
            </a:r>
            <a:endParaRPr lang="en-US" sz="2200"/>
          </a:p>
          <a:p>
            <a:pPr>
              <a:spcBef>
                <a:spcPts val="770"/>
              </a:spcBef>
              <a:buNone/>
            </a:pPr>
            <a:r>
              <a:rPr lang="en-US" sz="2200" b="1">
                <a:latin typeface="+mn-lt"/>
                <a:cs typeface="+mn-cs"/>
              </a:rPr>
              <a:t>TIP: </a:t>
            </a:r>
            <a:r>
              <a:rPr lang="en-US" sz="2200">
                <a:latin typeface="+mn-lt"/>
                <a:cs typeface="+mn-cs"/>
              </a:rPr>
              <a:t>Fold a slide like any other block, or jump between slides from the</a:t>
            </a:r>
            <a:r>
              <a:rPr lang="en-US" sz="2200">
                <a:latin typeface="+mn-lt"/>
                <a:cs typeface="+mn-cs"/>
              </a:rPr>
              <a:t> </a:t>
            </a:r>
            <a:r>
              <a:rPr lang="en-US" sz="2200">
                <a:latin typeface="+mn-lt"/>
                <a:cs typeface="+mn-cs"/>
              </a:rPr>
              <a:t>outline.</a:t>
            </a:r>
            <a:endParaRPr lang="en-US"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186160" cy="868680"/>
          </a:xfrm>
          <a:prstGeom prst="rect">
            <a:avLst/>
          </a:prstGeom>
          <a:noFill/>
        </p:spPr>
        <p:txBody>
          <a:bodyPr wrap="square" lIns="91440" tIns="45720" rIns="91440" bIns="45720" anchor="b">
            <a:normAutofit/>
          </a:bodyPr>
          <a:lstStyle/>
          <a:p>
            <a:pPr>
              <a:buNone/>
            </a:pPr>
            <a:r>
              <a:rPr lang="en-US" sz="3200" b="1">
                <a:latin typeface="+mn-lt"/>
                <a:cs typeface="+mn-cs"/>
              </a:rPr>
              <a:t>Other spellings</a:t>
            </a:r>
            <a:endParaRPr lang="en-US" sz="3200"/>
          </a:p>
        </p:txBody>
      </p:sp>
      <p:sp>
        <p:nvSpPr>
          <p:cNvPr id="3" name="Text 3"/>
          <p:cNvSpPr txBox="1"/>
          <p:nvPr/>
        </p:nvSpPr>
        <p:spPr>
          <a:xfrm>
            <a:off x="502920" y="1234440"/>
            <a:ext cx="11186160" cy="5245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>
              <a:spcBef>
                <a:spcPts val="770"/>
              </a:spcBef>
              <a:buNone/>
            </a:pPr>
            <a:r>
              <a:rPr lang="en-US" sz="2200">
                <a:latin typeface="+mn-lt"/>
                <a:cs typeface="+mn-cs"/>
              </a:rPr>
              <a:t>This slide opens with </a:t>
            </a:r>
            <a:r>
              <a:rPr lang="en-US" sz="2200">
                <a:latin typeface="Consolas"/>
                <a:cs typeface="Consolas"/>
              </a:rPr>
              <a:t>\slide{</a:t>
            </a:r>
            <a:r>
              <a:rPr lang="en-US" sz="2200">
                <a:latin typeface="+mn-lt"/>
                <a:cs typeface="+mn-cs"/>
              </a:rPr>
              <a:t> and closes with </a:t>
            </a:r>
            <a:r>
              <a:rPr lang="en-US" sz="2200">
                <a:latin typeface="Consolas"/>
                <a:cs typeface="Consolas"/>
              </a:rPr>
              <a:t>}</a:t>
            </a:r>
            <a:r>
              <a:rPr lang="en-US" sz="2200">
                <a:latin typeface="+mn-lt"/>
                <a:cs typeface="+mn-cs"/>
              </a:rPr>
              <a:t>.</a:t>
            </a:r>
            <a:endParaRPr lang="en-US"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457200"/>
            <a:ext cx="11186160" cy="5245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>
              <a:spcBef>
                <a:spcPts val="770"/>
              </a:spcBef>
              <a:buNone/>
            </a:pPr>
            <a:r>
              <a:rPr lang="en-US" sz="2200">
                <a:latin typeface="+mn-lt"/>
                <a:cs typeface="+mn-cs"/>
              </a:rPr>
              <a:t>This slide uses </a:t>
            </a:r>
            <a:r>
              <a:rPr lang="en-US" sz="2200">
                <a:latin typeface="Consolas"/>
                <a:cs typeface="Consolas"/>
              </a:rPr>
              <a:t>@slide{</a:t>
            </a:r>
            <a:r>
              <a:rPr lang="en-US" sz="2200">
                <a:latin typeface="+mn-lt"/>
                <a:cs typeface="+mn-cs"/>
              </a:rPr>
              <a:t> and has no heading, so it has no title either.</a:t>
            </a:r>
            <a:endParaRPr lang="en-US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p">
  <a:themeElements>
    <a:clrScheme name="mep">
      <a:dk1>
        <a:srgbClr val="1F2328"/>
      </a:dk1>
      <a:lt1>
        <a:srgbClr val="FFFFFF"/>
      </a:lt1>
      <a:dk2>
        <a:srgbClr val="24292F"/>
      </a:dk2>
      <a:lt2>
        <a:srgbClr val="F6F8FA"/>
      </a:lt2>
      <a:accent1>
        <a:srgbClr val="6B8AFD"/>
      </a:accent1>
      <a:accent2>
        <a:srgbClr val="E5A50A"/>
      </a:accent2>
      <a:accent3>
        <a:srgbClr val="2F7D32"/>
      </a:accent3>
      <a:accent4>
        <a:srgbClr val="C678DD"/>
      </a:accent4>
      <a:accent5>
        <a:srgbClr val="0B7285"/>
      </a:accent5>
      <a:accent6>
        <a:srgbClr val="C62828"/>
      </a:accent6>
      <a:hlink>
        <a:srgbClr val="0B5CAD"/>
      </a:hlink>
      <a:folHlink>
        <a:srgbClr val="8250DF"/>
      </a:folHlink>
    </a:clrScheme>
    <a:fontScheme name="mep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e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mep</Application>
  <Slides>11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Slides in mepml</dc:title>
  <dc:creator>Jordan Schupbach</dc:creator>
</cp:coreProperties>
</file>